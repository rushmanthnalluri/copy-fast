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Master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sldLayoutIdLst>
    <p:sldLayoutId id="2147483649" r:id="rIdLayout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1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2" name="BG"/>
          <p:cNvSpPr/>
          <p:nvPr/>
        </p:nvSpPr>
        <p:spPr>
          <a:xfrm>
            <a:off x="0" y="5303520"/>
            <a:ext cx="9144000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5400" b="1" i="0" dirty="0">
                <a:solidFill>
                  <a:srgbClr val="FFFFFF"/>
                </a:solidFill>
              </a:rPr>
              <a:t>CopyFast</a:t>
            </a:r>
          </a:p>
          <a:p>
            <a:pPr algn="ctr" marL="0" indent="0">
              <a:spcBef>
                <a:spcPts val="300"/>
              </a:spcBef>
              <a:spcAft>
                <a:spcPts val="0"/>
              </a:spcAft>
            </a:pPr>
            <a:r>
              <a:rPr lang="en-US" sz="2200" b="0" i="0" dirty="0">
                <a:solidFill>
                  <a:srgbClr val="D6E4F0"/>
                </a:solidFill>
              </a:rPr>
              <a:t>High-Throughput Linux Asynchronous Copy/Backup Engine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000000"/>
                </a:solidFill>
              </a:rPr>
              <a:t> 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0" i="0" dirty="0">
                <a:solidFill>
                  <a:srgbClr val="BDD7EE"/>
                </a:solidFill>
              </a:rPr>
              <a:t>PBL — OS &amp; System Programming | 25CS2104E | Review 2</a:t>
            </a:r>
          </a:p>
        </p:txBody>
      </p:sp>
      <p:sp>
        <p:nvSpPr>
          <p:cNvPr id="20" name="Content20"/>
          <p:cNvSpPr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0" i="0" dirty="0">
                <a:solidFill>
                  <a:srgbClr val="FFFFFF"/>
                </a:solidFill>
              </a:rPr>
              <a:t>G. Parvathi (2500030620)  |  T. Yasaswini (2500031446)  |  J. Jayalakshmi (2500030813)</a:t>
            </a:r>
          </a:p>
          <a:p>
            <a:pPr algn="ctr" marL="0" indent="0">
              <a:spcBef>
                <a:spcPts val="15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BDD7EE"/>
                </a:solidFill>
              </a:rPr>
              <a:t>Section 55  |  B.Tech CSE Y25 PBL  |  Mentor: Dr. Keerthi Samhitha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1 · Problem Statement</a:t>
            </a:r>
          </a:p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28600" y="1371600"/>
            <a:ext cx="1691640" cy="2011680"/>
          </a:xfrm>
          <a:prstGeom prst="rect">
            <a:avLst/>
          </a:prstGeom>
          <p:solidFill>
            <a:srgbClr val="C0392B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</a:rPr>
              <a:t>① Sequential I/O</a:t>
            </a:r>
          </a:p>
          <a:p>
            <a:pPr algn="ctr" marL="0" indent="0">
              <a:spcBef>
                <a:spcPts val="15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F0F4F8"/>
                </a:solidFill>
              </a:rPr>
              <a:t>cp reads then writes — no overlap, &lt;40% NVMe utilised</a:t>
            </a:r>
          </a:p>
        </p:txBody>
      </p:sp>
      <p:sp>
        <p:nvSpPr>
          <p:cNvPr id="11" name="Shape11"/>
          <p:cNvSpPr>
            <a:spLocks noGrp="1"/>
          </p:cNvSpPr>
          <p:nvPr/>
        </p:nvSpPr>
        <p:spPr>
          <a:xfrm>
            <a:off x="2011680" y="1371600"/>
            <a:ext cx="1691640" cy="2011680"/>
          </a:xfrm>
          <a:prstGeom prst="rect">
            <a:avLst/>
          </a:prstGeom>
          <p:solidFill>
            <a:srgbClr val="2471A3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</a:rPr>
              <a:t>② Sparse Expansion</a:t>
            </a:r>
          </a:p>
          <a:p>
            <a:pPr algn="ctr" marL="0" indent="0">
              <a:spcBef>
                <a:spcPts val="15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F0F4F8"/>
                </a:solidFill>
              </a:rPr>
              <a:t>500 MB sparse → 500 MB on disk (cp writes every zero byte)</a:t>
            </a:r>
          </a:p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3794760" y="1371600"/>
            <a:ext cx="1691640" cy="201168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</a:rPr>
              <a:t>③ No Resume</a:t>
            </a:r>
          </a:p>
          <a:p>
            <a:pPr algn="ctr" marL="0" indent="0">
              <a:spcBef>
                <a:spcPts val="15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F0F4F8"/>
                </a:solidFill>
              </a:rPr>
              <a:t>Crash at 50% = restart from zero — huge backup time waste</a:t>
            </a:r>
          </a:p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5577840" y="1371600"/>
            <a:ext cx="1691640" cy="2011680"/>
          </a:xfrm>
          <a:prstGeom prst="rect">
            <a:avLst/>
          </a:prstGeom>
          <p:solidFill>
            <a:srgbClr val="7D3C9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</a:rPr>
              <a:t>④ No Integrity</a:t>
            </a:r>
          </a:p>
          <a:p>
            <a:pPr algn="ctr" marL="0" indent="0">
              <a:spcBef>
                <a:spcPts val="15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F0F4F8"/>
                </a:solidFill>
              </a:rPr>
              <a:t>cp provides no checksum — silent bit-flips go undetected</a:t>
            </a:r>
          </a:p>
        </p:txBody>
      </p:sp>
      <p:sp>
        <p:nvSpPr>
          <p:cNvPr id="14" name="Shape14"/>
          <p:cNvSpPr>
            <a:spLocks noGrp="1"/>
          </p:cNvSpPr>
          <p:nvPr/>
        </p:nvSpPr>
        <p:spPr>
          <a:xfrm>
            <a:off x="7360920" y="1371600"/>
            <a:ext cx="1691640" cy="2011680"/>
          </a:xfrm>
          <a:prstGeom prst="rect">
            <a:avLst/>
          </a:prstGeom>
          <p:solidFill>
            <a:srgbClr val="B7770D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</a:rPr>
              <a:t>⑤ Single Thread</a:t>
            </a:r>
          </a:p>
          <a:p>
            <a:pPr algn="ctr" marL="0" indent="0">
              <a:spcBef>
                <a:spcPts val="15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F0F4F8"/>
                </a:solidFill>
              </a:rPr>
              <a:t>1 worker for dir copies — underutilises multi-core CPUs</a:t>
            </a:r>
          </a:p>
        </p:txBody>
      </p:sp>
      <p:sp>
        <p:nvSpPr>
          <p:cNvPr id="30" name="Content30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1F4E79"/>
                </a:solidFill>
              </a:rPr>
              <a:t>→  CopyFast solves all five with a single open-source C11 tool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2 · Our Solution</a:t>
            </a:r>
          </a:p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p:solidFill>
            <a:srgbClr val="2E75B6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</a:rPr>
              <a:t>CLI  (main.c)</a:t>
            </a:r>
          </a:p>
          <a:p>
            <a:pPr algn="l" marL="0" indent="0">
              <a:spcBef>
                <a:spcPts val="8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Argument parsing, path resolution, trailing-slash semantics</a:t>
            </a:r>
          </a:p>
        </p:txBody>
      </p:sp>
      <p:sp>
        <p:nvSpPr>
          <p:cNvPr id="11" name="Shape11"/>
          <p:cNvSpPr>
            <a:spLocks noGrp="1"/>
          </p:cNvSpPr>
          <p:nvPr/>
        </p:nvSpPr>
        <p:spPr>
          <a:xfrm>
            <a:off x="365760" y="2194560"/>
            <a:ext cx="8412480" cy="82296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</a:rPr>
              <a:t>Dispatcher  (backends.c)</a:t>
            </a:r>
          </a:p>
          <a:p>
            <a:pPr algn="l" marL="0" indent="0">
              <a:spcBef>
                <a:spcPts val="8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Routes to optimal backend; handles symlinks</a:t>
            </a:r>
          </a:p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365760" y="3108960"/>
            <a:ext cx="8412480" cy="822960"/>
          </a:xfrm>
          <a:prstGeom prst="rect">
            <a:avLst/>
          </a:prstGeom>
          <p:solidFill>
            <a:srgbClr val="7D3C9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</a:rPr>
              <a:t>NAIVE  |  PIPELINE  |  io_uring</a:t>
            </a:r>
          </a:p>
          <a:p>
            <a:pPr algn="l" marL="0" indent="0">
              <a:spcBef>
                <a:spcPts val="8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Auto-dispatched by file size: &lt;4 MB → Naive, 4-512 MB → Pipeline, &gt;512 MB → io_uring</a:t>
            </a:r>
          </a:p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p:solidFill>
            <a:srgbClr val="B7770D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</a:rPr>
              <a:t>Work-Queue Engine  (work_queue.c)</a:t>
            </a:r>
          </a:p>
          <a:p>
            <a:pPr algn="l" marL="0" indent="0">
              <a:spcBef>
                <a:spcPts val="8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N worker pthreads; DFS scan; post-order dir restore</a:t>
            </a:r>
          </a:p>
        </p:txBody>
      </p:sp>
      <p:sp>
        <p:nvSpPr>
          <p:cNvPr id="14" name="Shape14"/>
          <p:cNvSpPr>
            <a:spLocks noGrp="1"/>
          </p:cNvSpPr>
          <p:nvPr/>
        </p:nvSpPr>
        <p:spPr>
          <a:xfrm>
            <a:off x="365760" y="4937760"/>
            <a:ext cx="8412480" cy="822960"/>
          </a:xfrm>
          <a:prstGeom prst="rect">
            <a:avLst/>
          </a:prstGeom>
          <p:solidFill>
            <a:srgbClr val="1A5276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</a:rPr>
              <a:t>Support: sparse · metadata · checksum · resume · progress</a:t>
            </a:r>
          </a:p>
          <a:p>
            <a:pPr algn="l" marL="0" indent="0">
              <a:spcBef>
                <a:spcPts val="8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Hole-aware copy, mtime/perm preserve, xxHash64, crash journal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3 · Backend I — Overlapped Pipeline</a:t>
            </a:r>
          </a:p>
        </p:txBody>
      </p:sp>
      <p:sp>
        <p:nvSpPr>
          <p:cNvPr id="20" name="Content20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1E8449"/>
                </a:solidFill>
              </a:rPr>
              <a:t>Reader Thread ──────────────────────────────────────────────────────────►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1F4E79"/>
                </a:solidFill>
              </a:rPr>
              <a:t>   pread() 1 MB  →  [Slot 0][Slot 1][Slot 2]…[Slot 7]  Buffer Pool (ring)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7D3C98"/>
                </a:solidFill>
              </a:rPr>
              <a:t>                                                                         ▼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C0392B"/>
                </a:solidFill>
              </a:rPr>
              <a:t>Writer Thread ◄──────────────────────────────────────────────────────────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1F4E79"/>
                </a:solidFill>
              </a:rPr>
              <a:t>   pwrite() → destination                     mutex + cond_not_empty/full</a:t>
            </a:r>
          </a:p>
        </p:txBody>
      </p:sp>
      <p:sp>
        <p:nvSpPr>
          <p:cNvPr id="30" name="Content30"/>
          <p:cNvSpPr/>
          <p:nvPr/>
        </p:nvSpPr>
        <p:spPr>
          <a:xfrm>
            <a:off x="457200" y="3474720"/>
            <a:ext cx="8229600" cy="164592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700" b="1" i="0" dirty="0">
                <a:solidFill>
                  <a:srgbClr val="1F4E79"/>
                </a:solidFill>
              </a:rPr>
              <a:t>Benchmark  (100 MB dense, tmpfs):</a:t>
            </a:r>
          </a:p>
          <a:p>
            <a:pPr algn="ctr" marL="0" indent="0">
              <a:spcBef>
                <a:spcPts val="200"/>
              </a:spcBef>
              <a:spcAft>
                <a:spcPts val="0"/>
              </a:spcAft>
            </a:pPr>
            <a:r>
              <a:rPr lang="en-US" sz="1500" b="0" i="0" dirty="0">
                <a:solidFill>
                  <a:srgbClr val="1E8449"/>
                </a:solidFill>
              </a:rPr>
              <a:t>Naive (sequential): 1,280 MB/s  →  Pipeline: 2,336 MB/s  (1.82×)</a:t>
            </a:r>
          </a:p>
          <a:p>
            <a:pPr algn="ctr" marL="0" indent="0">
              <a:spcBef>
                <a:spcPts val="200"/>
              </a:spcBef>
              <a:spcAft>
                <a:spcPts val="0"/>
              </a:spcAft>
            </a:pPr>
            <a:r>
              <a:rPr lang="en-US" sz="1300" b="0" i="1" dirty="0">
                <a:solidFill>
                  <a:srgbClr val="7D3C98"/>
                </a:solidFill>
              </a:rPr>
              <a:t>Key fix: 100 ms pthread_cond_timedwait prevents writer-error deadlock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4 · Backend II — Linux io_uring</a:t>
            </a:r>
          </a:p>
        </p:txBody>
      </p:sp>
      <p:sp>
        <p:nvSpPr>
          <p:cNvPr id="20" name="Content20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1F4E79"/>
                </a:solidFill>
              </a:rPr>
              <a:t>Userspace                   Kernel Ring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1A5276"/>
                </a:solidFill>
              </a:rPr>
              <a:t>  submit read SQE  ──────►  Submission Queue (SQ)  →  kernel does I/O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1A5276"/>
                </a:solidFill>
              </a:rPr>
              <a:t>  ◄─── CQE signals done ──  Completion Queue (CQ)  ←  DMA completes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1E8449"/>
                </a:solidFill>
              </a:rPr>
              <a:t>  → immediately queue write SQE  →  up to 32 I/Os in flight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300" b="0" i="1" dirty="0">
                <a:solidFill>
                  <a:srgbClr val="7D3C98"/>
                </a:solidFill>
              </a:rPr>
              <a:t>  No thread context-switch per I/O  |  No busy-poll  |  Zero-copy ready</a:t>
            </a:r>
          </a:p>
        </p:txBody>
      </p:sp>
      <p:sp>
        <p:nvSpPr>
          <p:cNvPr id="30" name="Content30"/>
          <p:cNvSpPr/>
          <p:nvPr/>
        </p:nvSpPr>
        <p:spPr>
          <a:xfrm>
            <a:off x="457200" y="3840480"/>
            <a:ext cx="8229600" cy="164592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1F4E79"/>
                </a:solidFill>
              </a:rPr>
              <a:t>100 MB: 1,919 MB/s  (1.50×  naive)  |  32 concurrent SQEs</a:t>
            </a:r>
          </a:p>
          <a:p>
            <a:pPr algn="ctr" marL="0" indent="0">
              <a:spcBef>
                <a:spcPts val="200"/>
              </a:spcBef>
              <a:spcAft>
                <a:spcPts val="0"/>
              </a:spcAft>
            </a:pPr>
            <a:r>
              <a:rPr lang="en-US" sz="1300" b="0" i="1" dirty="0">
                <a:solidFill>
                  <a:srgbClr val="C0392B"/>
                </a:solidFill>
              </a:rPr>
              <a:t>Critical bug fixed: io_uring_submit() before CQ drain prevents livelock</a:t>
            </a:r>
          </a:p>
          <a:p>
            <a:pPr algn="ctr" marL="0" indent="0">
              <a:spcBef>
                <a:spcPts val="150"/>
              </a:spcBef>
              <a:spcAft>
                <a:spcPts val="0"/>
              </a:spcAft>
            </a:pPr>
            <a:r>
              <a:rPr lang="en-US" sz="1300" b="0" i="1" dirty="0">
                <a:solidFill>
                  <a:srgbClr val="C0392B"/>
                </a:solidFill>
              </a:rPr>
              <a:t>Short-read recovery: offset rolled back and SQE re-queued automatically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5 · Sparse File Awareness</a:t>
            </a:r>
          </a:p>
        </p:txBody>
      </p:sp>
      <p:sp>
        <p:nvSpPr>
          <p:cNvPr id="20" name="Content20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000" b="1" i="0" dirty="0">
                <a:solidFill>
                  <a:srgbClr val="1F4E79"/>
                </a:solidFill>
              </a:rPr>
              <a:t>What is a sparse file?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500" b="0" i="0" dirty="0">
                <a:solidFill>
                  <a:srgbClr val="1A5276"/>
                </a:solidFill>
              </a:rPr>
              <a:t>A file with logical holes (zero-filled regions) that occupy no disk blocks.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0" i="0" dirty="0">
                <a:solidFill>
                  <a:srgbClr val="1A5276"/>
                </a:solidFill>
              </a:rPr>
              <a:t>Example: a 500 MB VM disk image may be 99% holes → only 5 MB of real data.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000000"/>
                </a:solidFill>
              </a:rPr>
              <a:t> 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C0392B"/>
                </a:solidFill>
              </a:rPr>
              <a:t>cp (standard):  reads zeros, writes zeros → 500 MB disk used!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1E8449"/>
                </a:solidFill>
              </a:rPr>
              <a:t>CopyFast:        SEEK_DATA / SEEK_HOLE detects holes → skips zero writes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000000"/>
                </a:solidFill>
              </a:rPr>
              <a:t> </a:t>
            </a:r>
          </a:p>
          <a:p>
            <a:pPr algn="ctr" marL="0" indent="0">
              <a:spcBef>
                <a:spcPts val="20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7D3C98"/>
                </a:solidFill>
              </a:rPr>
              <a:t>Result: 500 MB sparse file copied in &lt; 2 ms, &lt; 2 MB physical disk used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7D3C98"/>
                </a:solidFill>
              </a:rPr>
              <a:t>Effective throughput: 197,463 MB/s  (~197 GB/s)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6 · Crash-Resilient Journaling</a:t>
            </a:r>
          </a:p>
        </p:txBody>
      </p:sp>
      <p:sp>
        <p:nvSpPr>
          <p:cNvPr id="20" name="Content20"/>
          <p:cNvSpPr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0" i="0" dirty="0">
                <a:solidFill>
                  <a:srgbClr val="C0392B"/>
                </a:solidFill>
              </a:rPr>
              <a:t>Problem: Ctrl+C halfway through a 100 GB copy → start over from zero.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</a:rPr>
              <a:t> 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1F4E79"/>
                </a:solidFill>
              </a:rPr>
              <a:t>CopyFast Journal Design: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1A5276"/>
                </a:solidFill>
              </a:rPr>
              <a:t>  1.  On first run: create .copyfast_resume journal file beside destination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1A5276"/>
                </a:solidFill>
              </a:rPr>
              <a:t>  2.  After each fsync checkpoint: write {offset, xxhash64} to journal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1A5276"/>
                </a:solidFill>
              </a:rPr>
              <a:t>  3.  On --resume flag: read journal → seek to offset → continue copy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1A5276"/>
                </a:solidFill>
              </a:rPr>
              <a:t>  4.  On clean finish: truncate journal to zero (journal self-destructs)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</a:rPr>
              <a:t> 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0" i="1" dirty="0">
                <a:solidFill>
                  <a:srgbClr val="7D3C98"/>
                </a:solidFill>
              </a:rPr>
              <a:t>Thread-safe: temp journal uses PID+TID in filename to avoid collisions</a:t>
            </a:r>
          </a:p>
          <a:p>
            <a:pPr algn="l" marL="0" indent="0">
              <a:spcBef>
                <a:spcPts val="20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1E8449"/>
                </a:solidFill>
              </a:rPr>
              <a:t>Verified by TC-5: kill at 50% → resume → sha256sum matches original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7 · Benchmark Results</a:t>
            </a:r>
          </a:p>
        </p:txBody>
      </p:sp>
      <p:sp>
        <p:nvSpPr>
          <p:cNvPr id="50" name="Shape50"/>
          <p:cNvSpPr>
            <a:spLocks noGrp="1"/>
          </p:cNvSpPr>
          <p:nvPr/>
        </p:nvSpPr>
        <p:spPr>
          <a:xfrm>
            <a:off x="91440" y="1188720"/>
            <a:ext cx="1600200" cy="7772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</a:rPr>
              <a:t>Workload</a:t>
            </a:r>
          </a:p>
        </p:txBody>
      </p:sp>
      <p:sp>
        <p:nvSpPr>
          <p:cNvPr id="51" name="Shape51"/>
          <p:cNvSpPr>
            <a:spLocks noGrp="1"/>
          </p:cNvSpPr>
          <p:nvPr/>
        </p:nvSpPr>
        <p:spPr>
          <a:xfrm>
            <a:off x="1737360" y="1188720"/>
            <a:ext cx="1234440" cy="7772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</a:rPr>
              <a:t>cp (baseline)</a:t>
            </a:r>
          </a:p>
        </p:txBody>
      </p:sp>
      <p:sp>
        <p:nvSpPr>
          <p:cNvPr id="52" name="Shape52"/>
          <p:cNvSpPr>
            <a:spLocks noGrp="1"/>
          </p:cNvSpPr>
          <p:nvPr/>
        </p:nvSpPr>
        <p:spPr>
          <a:xfrm>
            <a:off x="3017520" y="1188720"/>
            <a:ext cx="1371600" cy="7772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</a:rPr>
              <a:t>CopyFast NAIVE</a:t>
            </a:r>
          </a:p>
        </p:txBody>
      </p:sp>
      <p:sp>
        <p:nvSpPr>
          <p:cNvPr id="53" name="Shape53"/>
          <p:cNvSpPr>
            <a:spLocks noGrp="1"/>
          </p:cNvSpPr>
          <p:nvPr/>
        </p:nvSpPr>
        <p:spPr>
          <a:xfrm>
            <a:off x="4434840" y="1188720"/>
            <a:ext cx="1371600" cy="7772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54" name="Shape54"/>
          <p:cNvSpPr>
            <a:spLocks noGrp="1"/>
          </p:cNvSpPr>
          <p:nvPr/>
        </p:nvSpPr>
        <p:spPr>
          <a:xfrm>
            <a:off x="5852160" y="1188720"/>
            <a:ext cx="1371600" cy="7772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</a:rPr>
              <a:t>io_uring</a:t>
            </a:r>
          </a:p>
        </p:txBody>
      </p:sp>
      <p:sp>
        <p:nvSpPr>
          <p:cNvPr id="55" name="Shape55"/>
          <p:cNvSpPr>
            <a:spLocks noGrp="1"/>
          </p:cNvSpPr>
          <p:nvPr/>
        </p:nvSpPr>
        <p:spPr>
          <a:xfrm>
            <a:off x="7269480" y="1188720"/>
            <a:ext cx="1188720" cy="7772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</a:rPr>
              <a:t>Best Gain</a:t>
            </a:r>
          </a:p>
        </p:txBody>
      </p:sp>
      <p:sp>
        <p:nvSpPr>
          <p:cNvPr id="60" name="Shape60"/>
          <p:cNvSpPr>
            <a:spLocks noGrp="1"/>
          </p:cNvSpPr>
          <p:nvPr/>
        </p:nvSpPr>
        <p:spPr>
          <a:xfrm>
            <a:off x="91440" y="2011680"/>
            <a:ext cx="16002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100 MB dense</a:t>
            </a:r>
          </a:p>
        </p:txBody>
      </p:sp>
      <p:sp>
        <p:nvSpPr>
          <p:cNvPr id="61" name="Shape61"/>
          <p:cNvSpPr>
            <a:spLocks noGrp="1"/>
          </p:cNvSpPr>
          <p:nvPr/>
        </p:nvSpPr>
        <p:spPr>
          <a:xfrm>
            <a:off x="1737360" y="2011680"/>
            <a:ext cx="123444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~650 MB/s</a:t>
            </a:r>
          </a:p>
        </p:txBody>
      </p:sp>
      <p:sp>
        <p:nvSpPr>
          <p:cNvPr id="62" name="Shape62"/>
          <p:cNvSpPr>
            <a:spLocks noGrp="1"/>
          </p:cNvSpPr>
          <p:nvPr/>
        </p:nvSpPr>
        <p:spPr>
          <a:xfrm>
            <a:off x="3017520" y="201168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1,280 MB/s</a:t>
            </a:r>
          </a:p>
        </p:txBody>
      </p:sp>
      <p:sp>
        <p:nvSpPr>
          <p:cNvPr id="63" name="Shape63"/>
          <p:cNvSpPr>
            <a:spLocks noGrp="1"/>
          </p:cNvSpPr>
          <p:nvPr/>
        </p:nvSpPr>
        <p:spPr>
          <a:xfrm>
            <a:off x="4434840" y="201168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2,336 MB/s</a:t>
            </a:r>
          </a:p>
        </p:txBody>
      </p:sp>
      <p:sp>
        <p:nvSpPr>
          <p:cNvPr id="64" name="Shape64"/>
          <p:cNvSpPr>
            <a:spLocks noGrp="1"/>
          </p:cNvSpPr>
          <p:nvPr/>
        </p:nvSpPr>
        <p:spPr>
          <a:xfrm>
            <a:off x="5852160" y="201168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1,919 MB/s</a:t>
            </a:r>
          </a:p>
        </p:txBody>
      </p:sp>
      <p:sp>
        <p:nvSpPr>
          <p:cNvPr id="65" name="Shape65"/>
          <p:cNvSpPr>
            <a:spLocks noGrp="1"/>
          </p:cNvSpPr>
          <p:nvPr/>
        </p:nvSpPr>
        <p:spPr>
          <a:xfrm>
            <a:off x="7269480" y="2011680"/>
            <a:ext cx="118872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3.6× vs cp</a:t>
            </a:r>
          </a:p>
        </p:txBody>
      </p:sp>
      <p:sp>
        <p:nvSpPr>
          <p:cNvPr id="70" name="Shape70"/>
          <p:cNvSpPr>
            <a:spLocks noGrp="1"/>
          </p:cNvSpPr>
          <p:nvPr/>
        </p:nvSpPr>
        <p:spPr>
          <a:xfrm>
            <a:off x="91440" y="2834640"/>
            <a:ext cx="160020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50 MB dense</a:t>
            </a:r>
          </a:p>
        </p:txBody>
      </p:sp>
      <p:sp>
        <p:nvSpPr>
          <p:cNvPr id="71" name="Shape71"/>
          <p:cNvSpPr>
            <a:spLocks noGrp="1"/>
          </p:cNvSpPr>
          <p:nvPr/>
        </p:nvSpPr>
        <p:spPr>
          <a:xfrm>
            <a:off x="1737360" y="2834640"/>
            <a:ext cx="123444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~640 MB/s</a:t>
            </a:r>
          </a:p>
        </p:txBody>
      </p:sp>
      <p:sp>
        <p:nvSpPr>
          <p:cNvPr id="72" name="Shape72"/>
          <p:cNvSpPr>
            <a:spLocks noGrp="1"/>
          </p:cNvSpPr>
          <p:nvPr/>
        </p:nvSpPr>
        <p:spPr>
          <a:xfrm>
            <a:off x="3017520" y="2834640"/>
            <a:ext cx="137160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1,336 MB/s</a:t>
            </a:r>
          </a:p>
        </p:txBody>
      </p:sp>
      <p:sp>
        <p:nvSpPr>
          <p:cNvPr id="73" name="Shape73"/>
          <p:cNvSpPr>
            <a:spLocks noGrp="1"/>
          </p:cNvSpPr>
          <p:nvPr/>
        </p:nvSpPr>
        <p:spPr>
          <a:xfrm>
            <a:off x="4434840" y="2834640"/>
            <a:ext cx="137160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2,331 MB/s</a:t>
            </a:r>
          </a:p>
        </p:txBody>
      </p:sp>
      <p:sp>
        <p:nvSpPr>
          <p:cNvPr id="74" name="Shape74"/>
          <p:cNvSpPr>
            <a:spLocks noGrp="1"/>
          </p:cNvSpPr>
          <p:nvPr/>
        </p:nvSpPr>
        <p:spPr>
          <a:xfrm>
            <a:off x="5852160" y="2834640"/>
            <a:ext cx="137160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1,858 MB/s</a:t>
            </a:r>
          </a:p>
        </p:txBody>
      </p:sp>
      <p:sp>
        <p:nvSpPr>
          <p:cNvPr id="75" name="Shape75"/>
          <p:cNvSpPr>
            <a:spLocks noGrp="1"/>
          </p:cNvSpPr>
          <p:nvPr/>
        </p:nvSpPr>
        <p:spPr>
          <a:xfrm>
            <a:off x="7269480" y="2834640"/>
            <a:ext cx="118872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3.6× vs cp</a:t>
            </a:r>
          </a:p>
        </p:txBody>
      </p:sp>
      <p:sp>
        <p:nvSpPr>
          <p:cNvPr id="80" name="Shape80"/>
          <p:cNvSpPr>
            <a:spLocks noGrp="1"/>
          </p:cNvSpPr>
          <p:nvPr/>
        </p:nvSpPr>
        <p:spPr>
          <a:xfrm>
            <a:off x="91440" y="3657600"/>
            <a:ext cx="16002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500 MB sparse</a:t>
            </a:r>
          </a:p>
        </p:txBody>
      </p:sp>
      <p:sp>
        <p:nvSpPr>
          <p:cNvPr id="81" name="Shape81"/>
          <p:cNvSpPr>
            <a:spLocks noGrp="1"/>
          </p:cNvSpPr>
          <p:nvPr/>
        </p:nvSpPr>
        <p:spPr>
          <a:xfrm>
            <a:off x="1737360" y="3657600"/>
            <a:ext cx="123444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500 MB writes</a:t>
            </a:r>
          </a:p>
        </p:txBody>
      </p:sp>
      <p:sp>
        <p:nvSpPr>
          <p:cNvPr id="82" name="Shape82"/>
          <p:cNvSpPr>
            <a:spLocks noGrp="1"/>
          </p:cNvSpPr>
          <p:nvPr/>
        </p:nvSpPr>
        <p:spPr>
          <a:xfrm>
            <a:off x="3017520" y="365760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&lt; 2 MB I/O</a:t>
            </a:r>
          </a:p>
        </p:txBody>
      </p:sp>
      <p:sp>
        <p:nvSpPr>
          <p:cNvPr id="83" name="Shape83"/>
          <p:cNvSpPr>
            <a:spLocks noGrp="1"/>
          </p:cNvSpPr>
          <p:nvPr/>
        </p:nvSpPr>
        <p:spPr>
          <a:xfrm>
            <a:off x="4434840" y="365760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&lt; 2 MB I/O</a:t>
            </a:r>
          </a:p>
        </p:txBody>
      </p:sp>
      <p:sp>
        <p:nvSpPr>
          <p:cNvPr id="84" name="Shape84"/>
          <p:cNvSpPr>
            <a:spLocks noGrp="1"/>
          </p:cNvSpPr>
          <p:nvPr/>
        </p:nvSpPr>
        <p:spPr>
          <a:xfrm>
            <a:off x="5852160" y="365760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&lt; 2 MB I/O</a:t>
            </a:r>
          </a:p>
        </p:txBody>
      </p:sp>
      <p:sp>
        <p:nvSpPr>
          <p:cNvPr id="85" name="Shape85"/>
          <p:cNvSpPr>
            <a:spLocks noGrp="1"/>
          </p:cNvSpPr>
          <p:nvPr/>
        </p:nvSpPr>
        <p:spPr>
          <a:xfrm>
            <a:off x="7269480" y="3657600"/>
            <a:ext cx="118872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99.6% less I/O</a:t>
            </a:r>
          </a:p>
        </p:txBody>
      </p:sp>
      <p:sp>
        <p:nvSpPr>
          <p:cNvPr id="90" name="Shape90"/>
          <p:cNvSpPr>
            <a:spLocks noGrp="1"/>
          </p:cNvSpPr>
          <p:nvPr/>
        </p:nvSpPr>
        <p:spPr>
          <a:xfrm>
            <a:off x="91440" y="4480560"/>
            <a:ext cx="160020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1K files 1-worker</a:t>
            </a:r>
          </a:p>
        </p:txBody>
      </p:sp>
      <p:sp>
        <p:nvSpPr>
          <p:cNvPr id="91" name="Shape91"/>
          <p:cNvSpPr>
            <a:spLocks noGrp="1"/>
          </p:cNvSpPr>
          <p:nvPr/>
        </p:nvSpPr>
        <p:spPr>
          <a:xfrm>
            <a:off x="1737360" y="4480560"/>
            <a:ext cx="123444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~0.9 s</a:t>
            </a:r>
          </a:p>
        </p:txBody>
      </p:sp>
      <p:sp>
        <p:nvSpPr>
          <p:cNvPr id="92" name="Shape92"/>
          <p:cNvSpPr>
            <a:spLocks noGrp="1"/>
          </p:cNvSpPr>
          <p:nvPr/>
        </p:nvSpPr>
        <p:spPr>
          <a:xfrm>
            <a:off x="3017520" y="4480560"/>
            <a:ext cx="137160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0.317 s</a:t>
            </a:r>
          </a:p>
        </p:txBody>
      </p:sp>
      <p:sp>
        <p:nvSpPr>
          <p:cNvPr id="93" name="Shape93"/>
          <p:cNvSpPr>
            <a:spLocks noGrp="1"/>
          </p:cNvSpPr>
          <p:nvPr/>
        </p:nvSpPr>
        <p:spPr>
          <a:xfrm>
            <a:off x="4434840" y="4480560"/>
            <a:ext cx="137160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0.317 s</a:t>
            </a:r>
          </a:p>
        </p:txBody>
      </p:sp>
      <p:sp>
        <p:nvSpPr>
          <p:cNvPr id="94" name="Shape94"/>
          <p:cNvSpPr>
            <a:spLocks noGrp="1"/>
          </p:cNvSpPr>
          <p:nvPr/>
        </p:nvSpPr>
        <p:spPr>
          <a:xfrm>
            <a:off x="5852160" y="4480560"/>
            <a:ext cx="137160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0.317 s</a:t>
            </a:r>
          </a:p>
        </p:txBody>
      </p:sp>
      <p:sp>
        <p:nvSpPr>
          <p:cNvPr id="95" name="Shape95"/>
          <p:cNvSpPr>
            <a:spLocks noGrp="1"/>
          </p:cNvSpPr>
          <p:nvPr/>
        </p:nvSpPr>
        <p:spPr>
          <a:xfrm>
            <a:off x="7269480" y="4480560"/>
            <a:ext cx="1188720" cy="7772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2.8× faster</a:t>
            </a:r>
          </a:p>
        </p:txBody>
      </p:sp>
      <p:sp>
        <p:nvSpPr>
          <p:cNvPr id="100" name="Shape100"/>
          <p:cNvSpPr>
            <a:spLocks noGrp="1"/>
          </p:cNvSpPr>
          <p:nvPr/>
        </p:nvSpPr>
        <p:spPr>
          <a:xfrm>
            <a:off x="91440" y="5303520"/>
            <a:ext cx="16002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1K files 4-worker</a:t>
            </a:r>
          </a:p>
        </p:txBody>
      </p:sp>
      <p:sp>
        <p:nvSpPr>
          <p:cNvPr id="101" name="Shape101"/>
          <p:cNvSpPr>
            <a:spLocks noGrp="1"/>
          </p:cNvSpPr>
          <p:nvPr/>
        </p:nvSpPr>
        <p:spPr>
          <a:xfrm>
            <a:off x="1737360" y="5303520"/>
            <a:ext cx="123444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N/A</a:t>
            </a:r>
          </a:p>
        </p:txBody>
      </p:sp>
      <p:sp>
        <p:nvSpPr>
          <p:cNvPr id="102" name="Shape102"/>
          <p:cNvSpPr>
            <a:spLocks noGrp="1"/>
          </p:cNvSpPr>
          <p:nvPr/>
        </p:nvSpPr>
        <p:spPr>
          <a:xfrm>
            <a:off x="3017520" y="530352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0.030 s</a:t>
            </a:r>
          </a:p>
        </p:txBody>
      </p:sp>
      <p:sp>
        <p:nvSpPr>
          <p:cNvPr id="103" name="Shape103"/>
          <p:cNvSpPr>
            <a:spLocks noGrp="1"/>
          </p:cNvSpPr>
          <p:nvPr/>
        </p:nvSpPr>
        <p:spPr>
          <a:xfrm>
            <a:off x="4434840" y="530352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0.030 s</a:t>
            </a:r>
          </a:p>
        </p:txBody>
      </p:sp>
      <p:sp>
        <p:nvSpPr>
          <p:cNvPr id="104" name="Shape104"/>
          <p:cNvSpPr>
            <a:spLocks noGrp="1"/>
          </p:cNvSpPr>
          <p:nvPr/>
        </p:nvSpPr>
        <p:spPr>
          <a:xfrm>
            <a:off x="5852160" y="5303520"/>
            <a:ext cx="137160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0.030 s</a:t>
            </a:r>
          </a:p>
        </p:txBody>
      </p:sp>
      <p:sp>
        <p:nvSpPr>
          <p:cNvPr id="105" name="Shape105"/>
          <p:cNvSpPr>
            <a:spLocks noGrp="1"/>
          </p:cNvSpPr>
          <p:nvPr/>
        </p:nvSpPr>
        <p:spPr>
          <a:xfrm>
            <a:off x="7269480" y="5303520"/>
            <a:ext cx="1188720" cy="777240"/>
          </a:xfrm>
          <a:prstGeom prst="rect">
            <a:avLst/>
          </a:prstGeom>
          <p:solidFill>
            <a:srgbClr val="FFFFFF"/>
          </p:solidFill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10.49× vs 1-worker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8 · OS Concepts Applied</a:t>
            </a:r>
          </a:p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182880" y="1280160"/>
            <a:ext cx="4160520" cy="109728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</a:rPr>
              <a:t>▶ POSIX pthreads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Reader/writer threads in pipeline; N worker threads in dir copy</a:t>
            </a:r>
          </a:p>
        </p:txBody>
      </p:sp>
      <p:sp>
        <p:nvSpPr>
          <p:cNvPr id="11" name="Shape11"/>
          <p:cNvSpPr>
            <a:spLocks noGrp="1"/>
          </p:cNvSpPr>
          <p:nvPr/>
        </p:nvSpPr>
        <p:spPr>
          <a:xfrm>
            <a:off x="4480560" y="1280160"/>
            <a:ext cx="4160520" cy="1097280"/>
          </a:xfrm>
          <a:prstGeom prst="rect">
            <a:avLst/>
          </a:prstGeom>
          <p:solidFill>
            <a:srgbClr val="2471A3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</a:rPr>
              <a:t>▶ io_uring (Linux 5.4+)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Kernel async SQ/CQ ring; 32 concurrent I/Os; no thread-per-op</a:t>
            </a:r>
          </a:p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182880" y="2514600"/>
            <a:ext cx="4160520" cy="1097280"/>
          </a:xfrm>
          <a:prstGeom prst="rect">
            <a:avLst/>
          </a:prstGeom>
          <p:solidFill>
            <a:srgbClr val="7D3C9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</a:rPr>
              <a:t>▶ SEEK_DATA / SEEK_HOLE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Sparse file detection; reproduces holes with ftruncate</a:t>
            </a:r>
          </a:p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4480560" y="2514600"/>
            <a:ext cx="4160520" cy="1097280"/>
          </a:xfrm>
          <a:prstGeom prst="rect">
            <a:avLst/>
          </a:prstGeom>
          <p:solidFill>
            <a:srgbClr val="B7770D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</a:rPr>
              <a:t>▶ O_DIRECT + posix_memalign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Bypass page cache for large sequential copies; DMA-aligned buffers</a:t>
            </a:r>
          </a:p>
        </p:txBody>
      </p:sp>
      <p:sp>
        <p:nvSpPr>
          <p:cNvPr id="14" name="Shape14"/>
          <p:cNvSpPr>
            <a:spLocks noGrp="1"/>
          </p:cNvSpPr>
          <p:nvPr/>
        </p:nvSpPr>
        <p:spPr>
          <a:xfrm>
            <a:off x="182880" y="3749039"/>
            <a:ext cx="4160520" cy="1097280"/>
          </a:xfrm>
          <a:prstGeom prst="rect">
            <a:avLst/>
          </a:prstGeom>
          <p:solidFill>
            <a:srgbClr val="C0392B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</a:rPr>
              <a:t>▶ Mutex + cond_timedwait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Producer-consumer ring buffer; 100ms timeout prevents deadlock</a:t>
            </a:r>
          </a:p>
        </p:txBody>
      </p:sp>
      <p:sp>
        <p:nvSpPr>
          <p:cNvPr id="15" name="Shape15"/>
          <p:cNvSpPr>
            <a:spLocks noGrp="1"/>
          </p:cNvSpPr>
          <p:nvPr/>
        </p:nvSpPr>
        <p:spPr>
          <a:xfrm>
            <a:off x="4480560" y="3749039"/>
            <a:ext cx="4160520" cy="1097280"/>
          </a:xfrm>
          <a:prstGeom prst="rect">
            <a:avLst/>
          </a:prstGeom>
          <p:solidFill>
            <a:srgbClr val="1A5276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</a:rPr>
              <a:t>▶ Signals + atexit()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SIGINT/SIGTERM cleanup of bench temp files; graceful shutdown</a:t>
            </a:r>
          </a:p>
        </p:txBody>
      </p:sp>
      <p:sp>
        <p:nvSpPr>
          <p:cNvPr id="16" name="Shape16"/>
          <p:cNvSpPr>
            <a:spLocks noGrp="1"/>
          </p:cNvSpPr>
          <p:nvPr/>
        </p:nvSpPr>
        <p:spPr>
          <a:xfrm>
            <a:off x="182880" y="4983480"/>
            <a:ext cx="4160520" cy="109728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</a:rPr>
              <a:t>▶ fchown / futimens</a:t>
            </a:r>
          </a:p>
          <a:p>
            <a:pPr algn="l" marL="0" indent="0">
              <a:spcBef>
                <a:spcPts val="10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E8EFF5"/>
                </a:solidFill>
              </a:rPr>
              <a:t>Preserve UID/GID/mtime after copy; tolerate EPERM on WSL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9 · Test Battery &amp; Valgrind</a:t>
            </a:r>
          </a:p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182880" y="1188720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TC-1  Small file copy (&lt; 1 MB)</a:t>
            </a:r>
          </a:p>
        </p:txBody>
      </p:sp>
      <p:sp>
        <p:nvSpPr>
          <p:cNvPr id="11" name="Shape11"/>
          <p:cNvSpPr>
            <a:spLocks noGrp="1"/>
          </p:cNvSpPr>
          <p:nvPr/>
        </p:nvSpPr>
        <p:spPr>
          <a:xfrm>
            <a:off x="4480560" y="1188720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TC-2  Large file copy (100 MB)</a:t>
            </a:r>
          </a:p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182880" y="1938528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TC-3  Sparse file preservation (500 MB)</a:t>
            </a:r>
          </a:p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4480560" y="1938528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TC-4  Recursive directory copy</a:t>
            </a:r>
          </a:p>
        </p:txBody>
      </p:sp>
      <p:sp>
        <p:nvSpPr>
          <p:cNvPr id="14" name="Shape14"/>
          <p:cNvSpPr>
            <a:spLocks noGrp="1"/>
          </p:cNvSpPr>
          <p:nvPr/>
        </p:nvSpPr>
        <p:spPr>
          <a:xfrm>
            <a:off x="182880" y="2688336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TC-5  Resume after interruption</a:t>
            </a:r>
          </a:p>
        </p:txBody>
      </p:sp>
      <p:sp>
        <p:nvSpPr>
          <p:cNvPr id="15" name="Shape15"/>
          <p:cNvSpPr>
            <a:spLocks noGrp="1"/>
          </p:cNvSpPr>
          <p:nvPr/>
        </p:nvSpPr>
        <p:spPr>
          <a:xfrm>
            <a:off x="4480560" y="2688336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TC-6  Integrity verify (flipped byte)</a:t>
            </a:r>
          </a:p>
        </p:txBody>
      </p:sp>
      <p:sp>
        <p:nvSpPr>
          <p:cNvPr id="16" name="Shape16"/>
          <p:cNvSpPr>
            <a:spLocks noGrp="1"/>
          </p:cNvSpPr>
          <p:nvPr/>
        </p:nvSpPr>
        <p:spPr>
          <a:xfrm>
            <a:off x="182880" y="3438144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TC-7  Symlink handling</a:t>
            </a:r>
          </a:p>
        </p:txBody>
      </p:sp>
      <p:sp>
        <p:nvSpPr>
          <p:cNvPr id="17" name="Shape17"/>
          <p:cNvSpPr>
            <a:spLocks noGrp="1"/>
          </p:cNvSpPr>
          <p:nvPr/>
        </p:nvSpPr>
        <p:spPr>
          <a:xfrm>
            <a:off x="4480560" y="3438144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TC-8  Pipeline backend explicit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182880" y="4187952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TC-9  io_uring backend explicit</a:t>
            </a:r>
          </a:p>
        </p:txBody>
      </p:sp>
      <p:sp>
        <p:nvSpPr>
          <p:cNvPr id="19" name="Shape19"/>
          <p:cNvSpPr>
            <a:spLocks noGrp="1"/>
          </p:cNvSpPr>
          <p:nvPr/>
        </p:nvSpPr>
        <p:spPr>
          <a:xfrm>
            <a:off x="4480560" y="4187952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TC-10 Read-only dir traversal</a:t>
            </a:r>
          </a:p>
        </p:txBody>
      </p:sp>
      <p:sp>
        <p:nvSpPr>
          <p:cNvPr id="20" name="Shape20"/>
          <p:cNvSpPr>
            <a:spLocks noGrp="1"/>
          </p:cNvSpPr>
          <p:nvPr/>
        </p:nvSpPr>
        <p:spPr>
          <a:xfrm>
            <a:off x="182880" y="4937759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TC-11 O_DIRECT on tmpfs fallback</a:t>
            </a:r>
          </a:p>
        </p:txBody>
      </p:sp>
      <p:sp>
        <p:nvSpPr>
          <p:cNvPr id="21" name="Shape21"/>
          <p:cNvSpPr>
            <a:spLocks noGrp="1"/>
          </p:cNvSpPr>
          <p:nvPr/>
        </p:nvSpPr>
        <p:spPr>
          <a:xfrm>
            <a:off x="4480560" y="4937759"/>
            <a:ext cx="4114800" cy="685800"/>
          </a:xfrm>
          <a:prstGeom prst="rect">
            <a:avLst/>
          </a:prstGeom>
          <p:solidFill>
            <a:srgbClr val="1E8449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0" i="0" dirty="0">
                <a:solidFill>
                  <a:srgbClr val="FFFFFF"/>
                </a:solidFill>
              </a:rPr>
              <a:t>PASS ✓   TC-12 Dir copy into existing parent</a:t>
            </a:r>
          </a:p>
        </p:txBody>
      </p:sp>
      <p:sp>
        <p:nvSpPr>
          <p:cNvPr id="90" name="Content90"/>
          <p:cNvSpPr/>
          <p:nvPr/>
        </p:nvSpPr>
        <p:spPr>
          <a:xfrm>
            <a:off x="457200" y="6035040"/>
            <a:ext cx="8229600" cy="64008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1F4E79"/>
                </a:solidFill>
              </a:rPr>
              <a:t>12 / 12 Tests PASS   |   Valgrind: 0 leaks, 0 errors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99" name="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274320" y="45720"/>
            <a:ext cx="8595360" cy="914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i="0" dirty="0">
                <a:solidFill>
                  <a:srgbClr val="FFFFFF"/>
                </a:solidFill>
              </a:rPr>
              <a:t>10 · Live Demo Sequence</a:t>
            </a:r>
          </a:p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182880" y="118872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1  Build</a:t>
            </a:r>
          </a:p>
        </p:txBody>
      </p:sp>
      <p:sp>
        <p:nvSpPr>
          <p:cNvPr id="11" name="Shape11"/>
          <p:cNvSpPr>
            <a:spLocks noGrp="1"/>
          </p:cNvSpPr>
          <p:nvPr/>
        </p:nvSpPr>
        <p:spPr>
          <a:xfrm>
            <a:off x="2148840" y="118872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make clean &amp;&amp; make -j$(nproc)</a:t>
            </a:r>
          </a:p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182880" y="178308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2  Test suite</a:t>
            </a:r>
          </a:p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2148840" y="178308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make test</a:t>
            </a:r>
          </a:p>
        </p:txBody>
      </p:sp>
      <p:sp>
        <p:nvSpPr>
          <p:cNvPr id="14" name="Shape14"/>
          <p:cNvSpPr>
            <a:spLocks noGrp="1"/>
          </p:cNvSpPr>
          <p:nvPr/>
        </p:nvSpPr>
        <p:spPr>
          <a:xfrm>
            <a:off x="182880" y="237744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3  Benchmark</a:t>
            </a:r>
          </a:p>
        </p:txBody>
      </p:sp>
      <p:sp>
        <p:nvSpPr>
          <p:cNvPr id="15" name="Shape15"/>
          <p:cNvSpPr>
            <a:spLocks noGrp="1"/>
          </p:cNvSpPr>
          <p:nvPr/>
        </p:nvSpPr>
        <p:spPr>
          <a:xfrm>
            <a:off x="2148840" y="237744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make bench</a:t>
            </a:r>
          </a:p>
        </p:txBody>
      </p:sp>
      <p:sp>
        <p:nvSpPr>
          <p:cNvPr id="16" name="Shape16"/>
          <p:cNvSpPr>
            <a:spLocks noGrp="1"/>
          </p:cNvSpPr>
          <p:nvPr/>
        </p:nvSpPr>
        <p:spPr>
          <a:xfrm>
            <a:off x="182880" y="297180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4  Pipeline copy</a:t>
            </a:r>
          </a:p>
        </p:txBody>
      </p:sp>
      <p:sp>
        <p:nvSpPr>
          <p:cNvPr id="17" name="Shape17"/>
          <p:cNvSpPr>
            <a:spLocks noGrp="1"/>
          </p:cNvSpPr>
          <p:nvPr/>
        </p:nvSpPr>
        <p:spPr>
          <a:xfrm>
            <a:off x="2148840" y="297180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./copyfast --backend pipeline big.img /tmp/big_copy.img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182880" y="356616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5  io_uring copy</a:t>
            </a:r>
          </a:p>
        </p:txBody>
      </p:sp>
      <p:sp>
        <p:nvSpPr>
          <p:cNvPr id="19" name="Shape19"/>
          <p:cNvSpPr>
            <a:spLocks noGrp="1"/>
          </p:cNvSpPr>
          <p:nvPr/>
        </p:nvSpPr>
        <p:spPr>
          <a:xfrm>
            <a:off x="2148840" y="356616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./copyfast --backend uring big.img /tmp/big_uring.img</a:t>
            </a:r>
          </a:p>
        </p:txBody>
      </p:sp>
      <p:sp>
        <p:nvSpPr>
          <p:cNvPr id="20" name="Shape20"/>
          <p:cNvSpPr>
            <a:spLocks noGrp="1"/>
          </p:cNvSpPr>
          <p:nvPr/>
        </p:nvSpPr>
        <p:spPr>
          <a:xfrm>
            <a:off x="182880" y="416052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6  Dir parallel</a:t>
            </a:r>
          </a:p>
        </p:txBody>
      </p:sp>
      <p:sp>
        <p:nvSpPr>
          <p:cNvPr id="21" name="Shape21"/>
          <p:cNvSpPr>
            <a:spLocks noGrp="1"/>
          </p:cNvSpPr>
          <p:nvPr/>
        </p:nvSpPr>
        <p:spPr>
          <a:xfrm>
            <a:off x="2148840" y="416052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./copyfast --workers 4 src_dir/ dst_dir/</a:t>
            </a:r>
          </a:p>
        </p:txBody>
      </p:sp>
      <p:sp>
        <p:nvSpPr>
          <p:cNvPr id="22" name="Shape22"/>
          <p:cNvSpPr>
            <a:spLocks noGrp="1"/>
          </p:cNvSpPr>
          <p:nvPr/>
        </p:nvSpPr>
        <p:spPr>
          <a:xfrm>
            <a:off x="182880" y="475488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7  Verify</a:t>
            </a:r>
          </a:p>
        </p:txBody>
      </p:sp>
      <p:sp>
        <p:nvSpPr>
          <p:cNvPr id="23" name="Shape23"/>
          <p:cNvSpPr>
            <a:spLocks noGrp="1"/>
          </p:cNvSpPr>
          <p:nvPr/>
        </p:nvSpPr>
        <p:spPr>
          <a:xfrm>
            <a:off x="2148840" y="475488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./copyfast --verify src.dat dst.dat</a:t>
            </a:r>
          </a:p>
        </p:txBody>
      </p:sp>
      <p:sp>
        <p:nvSpPr>
          <p:cNvPr id="24" name="Shape24"/>
          <p:cNvSpPr>
            <a:spLocks noGrp="1"/>
          </p:cNvSpPr>
          <p:nvPr/>
        </p:nvSpPr>
        <p:spPr>
          <a:xfrm>
            <a:off x="182880" y="534924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8  Resume</a:t>
            </a:r>
          </a:p>
        </p:txBody>
      </p:sp>
      <p:sp>
        <p:nvSpPr>
          <p:cNvPr id="25" name="Shape25"/>
          <p:cNvSpPr>
            <a:spLocks noGrp="1"/>
          </p:cNvSpPr>
          <p:nvPr/>
        </p:nvSpPr>
        <p:spPr>
          <a:xfrm>
            <a:off x="2148840" y="534924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./copyfast --resume partial.dat /tmp/dst.dat</a:t>
            </a:r>
          </a:p>
        </p:txBody>
      </p:sp>
      <p:sp>
        <p:nvSpPr>
          <p:cNvPr id="26" name="Shape26"/>
          <p:cNvSpPr>
            <a:spLocks noGrp="1"/>
          </p:cNvSpPr>
          <p:nvPr/>
        </p:nvSpPr>
        <p:spPr>
          <a:xfrm>
            <a:off x="182880" y="5943600"/>
            <a:ext cx="1828800" cy="548640"/>
          </a:xfrm>
          <a:prstGeom prst="rect">
            <a:avLst/>
          </a:prstGeom>
          <p:solidFill>
            <a:srgbClr val="1F4E79"/>
          </p:solidFill>
        </p:spPr>
        <p:txBody>
          <a:bodyPr wrap="square" lIns="91440" rIns="91440" tIns="45720" bIns="4572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</a:rPr>
              <a:t>9  Sparse demo</a:t>
            </a:r>
          </a:p>
        </p:txBody>
      </p:sp>
      <p:sp>
        <p:nvSpPr>
          <p:cNvPr id="27" name="Shape27"/>
          <p:cNvSpPr>
            <a:spLocks noGrp="1"/>
          </p:cNvSpPr>
          <p:nvPr/>
        </p:nvSpPr>
        <p:spPr>
          <a:xfrm>
            <a:off x="2148840" y="5943600"/>
            <a:ext cx="6766560" cy="548640"/>
          </a:xfrm>
          <a:prstGeom prst="rect">
            <a:avLst/>
          </a:prstGeom>
          <p:solidFill>
            <a:srgbClr val="EAF2F8"/>
          </p:solidFill>
        </p:spPr>
        <p:txBody>
          <a:bodyPr wrap="square" lIns="91440" rIns="91440" tIns="45720" bIns="45720" anchor="ctr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1F4E79"/>
                </a:solidFill>
              </a:rPr>
              <a:t>dd ... conv=sparse &amp;&amp; ./copyfast sparse.img /tmp/sparse_copy.img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1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</p:txBody>
      </p:sp>
      <p:sp>
        <p:nvSpPr>
          <p:cNvPr id="2" name="BG"/>
          <p:cNvSpPr/>
          <p:nvPr/>
        </p:nvSpPr>
        <p:spPr>
          <a:xfrm>
            <a:off x="0" y="5029200"/>
            <a:ext cx="914400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</p:txBody>
      </p:sp>
      <p:sp>
        <p:nvSpPr>
          <p:cNvPr id="10" name="Shape10"/>
          <p:cNvSpPr>
            <a:spLocks noGrp="1"/>
          </p:cNvSpPr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p:noFill/>
        </p:spPr>
        <p:txBody>
          <a:bodyPr wrap="square" lIns="91440" rIns="91440" tIns="45720" bIns="45720" anchor="ctr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5400" b="1" i="0" dirty="0">
                <a:solidFill>
                  <a:srgbClr val="FFFFFF"/>
                </a:solidFill>
              </a:rPr>
              <a:t>Thank You!</a:t>
            </a:r>
          </a:p>
          <a:p>
            <a:pPr algn="ctr" marL="0" indent="0">
              <a:spcBef>
                <a:spcPts val="300"/>
              </a:spcBef>
              <a:spcAft>
                <a:spcPts val="0"/>
              </a:spcAft>
            </a:pPr>
            <a:r>
              <a:rPr lang="en-US" sz="2600" b="0" i="0" dirty="0">
                <a:solidFill>
                  <a:srgbClr val="BDD7EE"/>
                </a:solidFill>
              </a:rPr>
              <a:t>Questions &amp; Live Demo</a:t>
            </a:r>
          </a:p>
        </p:txBody>
      </p:sp>
      <p:sp>
        <p:nvSpPr>
          <p:cNvPr id="20" name="Content20"/>
          <p:cNvSpPr/>
          <p:nvPr/>
        </p:nvSpPr>
        <p:spPr>
          <a:xfrm>
            <a:off x="457200" y="5212080"/>
            <a:ext cx="8229600" cy="146304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lang="en-US" sz="1600" b="0" i="0" dirty="0">
                <a:solidFill>
                  <a:srgbClr val="FFFFFF"/>
                </a:solidFill>
              </a:rPr>
              <a:t>GitHub: github.com/rushmanthnalluri/copy-fast</a:t>
            </a:r>
          </a:p>
          <a:p>
            <a:pPr algn="ctr" marL="0" indent="0">
              <a:spcBef>
                <a:spcPts val="200"/>
              </a:spcBef>
              <a:spcAft>
                <a:spcPts val="0"/>
              </a:spcAft>
            </a:pPr>
            <a:r>
              <a:rPr lang="en-US" sz="1500" b="0" i="0" dirty="0">
                <a:solidFill>
                  <a:srgbClr val="BDD7EE"/>
                </a:solidFill>
              </a:rPr>
              <a:t>Team: G. Parvathi · T. Yasaswini · J. Jayalakshmi</a:t>
            </a:r>
          </a:p>
          <a:p>
            <a:pPr algn="ctr" marL="0" indent="0">
              <a:spcBef>
                <a:spcPts val="15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BDD7EE"/>
                </a:solidFill>
              </a:rPr>
              <a:t>Mentor: Dr. Keerthi Samhitha  |  Section 55  |  25CS2104E</a:t>
            </a:r>
          </a:p>
        </p:txBody>
      </p:sp>
    </p:spTree>
  </p:cSld>
</p:sld>
</file>